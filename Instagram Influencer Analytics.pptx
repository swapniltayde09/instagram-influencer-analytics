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1327785"/>
            <a:ext cx="792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 Influencer Analytics</a:t>
            </a:r>
            <a:endParaRPr lang="en-US" sz="4500" dirty="0"/>
          </a:p>
        </p:txBody>
      </p:sp>
      <p:sp>
        <p:nvSpPr>
          <p:cNvPr id="4" name="Text 1"/>
          <p:cNvSpPr/>
          <p:nvPr/>
        </p:nvSpPr>
        <p:spPr>
          <a:xfrm>
            <a:off x="2038037" y="2851785"/>
            <a:ext cx="506776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SQL-Powered Insights for Data-Driven Marketing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3712827" y="3629025"/>
            <a:ext cx="1718186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Swapnil Tayde • March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E13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1596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SQL-based analysis of 200 top Instagram influencers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on engagement metrics beyond follower count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Developed corrected influence scoring methodology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Identified momentum leaders and undervalued gems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E13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0"/>
            <a:ext cx="792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Brands often select influencers based solely on follower count, which may not result in effective engagement or ROI.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2026920"/>
            <a:ext cx="7620000" cy="11687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for analytical evaluation beyond vanity metrics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true influencer impact and value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Data-driven influencer marketing decisions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E13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and Methodology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38200" y="1478280"/>
            <a:ext cx="7616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38200" y="1859280"/>
            <a:ext cx="7616952" cy="202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top influencers with key metrics</a:t>
            </a:r>
            <a:endParaRPr lang="en-US" sz="1140" dirty="0"/>
          </a:p>
        </p:txBody>
      </p:sp>
      <p:sp>
        <p:nvSpPr>
          <p:cNvPr id="5" name="Text 3"/>
          <p:cNvSpPr/>
          <p:nvPr/>
        </p:nvSpPr>
        <p:spPr>
          <a:xfrm>
            <a:off x="838200" y="2519204"/>
            <a:ext cx="7616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Used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38200" y="2900204"/>
            <a:ext cx="7616952" cy="202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SQL, Excel, MySQL</a:t>
            </a:r>
            <a:endParaRPr lang="en-US" sz="11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E13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Metrics Analyzed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1596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Followers, Posts, Average Likes (per 100k)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 Rate (likes per follower)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Post Average vs Historical Average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Likes (in billions), Influence Score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E13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Performers by Average Likes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1596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Ranked influencers by highest average likes per post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Calculated like rate percentage relative to followers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Identified strongest audience response patterns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revealed engagement magnitude leaders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E13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Geographic Distribution Analysis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1596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countries by average engagement rate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follower count analyzed per country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engagement patterns identified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Influencer concentration varies by region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E13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vs Engagement: Key Finding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0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mega-influencers have lower engagement?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38200" y="1946909"/>
            <a:ext cx="7616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Mega (200M+)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38200" y="2175509"/>
            <a:ext cx="7616952" cy="202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avg engagement</a:t>
            </a:r>
            <a:endParaRPr lang="en-US" sz="1140" dirty="0"/>
          </a:p>
        </p:txBody>
      </p:sp>
      <p:sp>
        <p:nvSpPr>
          <p:cNvPr id="6" name="Text 4"/>
          <p:cNvSpPr/>
          <p:nvPr/>
        </p:nvSpPr>
        <p:spPr>
          <a:xfrm>
            <a:off x="838200" y="2835432"/>
            <a:ext cx="7616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Mid-Tier (50M)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38200" y="3064032"/>
            <a:ext cx="7616952" cy="202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relative engagement</a:t>
            </a:r>
            <a:endParaRPr lang="en-US" sz="11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E13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Momentum Leaders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2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Influencers with strongest recent growth trajectory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42109"/>
            <a:ext cx="7620000" cy="1168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post average vs historical average comparison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Identified influencers gaining traction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Momentum % as growth indicator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E13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Corrected Influence Score Methodology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2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Enhanced scoring formula for accurate assessment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42109"/>
            <a:ext cx="7620000" cy="1168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Formula: (Influence Score × 0.7) + (Engagement × 0.3)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Balances follower count with actual engagement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Identifies truly valuable influencer partnerships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E13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Share by Country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1596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likes dominance (in billions) analyzed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countries by global share percentage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value concentration identified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insights for regional campaigns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E13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Undervalued Gems Discovery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2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engagement, under 50M followers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42109"/>
            <a:ext cx="7620000" cy="1168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quartile engagement performers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Cost-effective partnership opportunities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ROI potential for brands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E13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Efficiency Score Analysis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2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Likes per post per million followers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718309"/>
            <a:ext cx="7620000" cy="1168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effectiveness relative to audience size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most efficient content creators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High-performing partnership identification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E13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1596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 rate more crucial than follower count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Micro-influencers often deliver better engagement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trends vary significantly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Momentum indicators predict rising stars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E13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Recommendations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1596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Prioritize engagement rate over follower count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on momentum leaders for trending campaigns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 mid-tier influencers for better ROI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corrected score for holistic evaluation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E13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SQL-Driven Analysis Approach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1596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Database: MySQL with indexed queries for performance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influencers analyzed across 10+ dimensions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calculations: momentum %, efficiency scores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 influencer insights summary table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E13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 and Preparation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38200" y="1478282"/>
            <a:ext cx="7616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Cleaning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38200" y="1859282"/>
            <a:ext cx="7616952" cy="202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null values and outliers</a:t>
            </a:r>
            <a:endParaRPr lang="en-US" sz="1140" dirty="0"/>
          </a:p>
        </p:txBody>
      </p:sp>
      <p:sp>
        <p:nvSpPr>
          <p:cNvPr id="5" name="Text 3"/>
          <p:cNvSpPr/>
          <p:nvPr/>
        </p:nvSpPr>
        <p:spPr>
          <a:xfrm>
            <a:off x="838200" y="2519204"/>
            <a:ext cx="7616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38200" y="2900204"/>
            <a:ext cx="7616952" cy="202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Country and follower indexes</a:t>
            </a:r>
            <a:endParaRPr lang="en-US" sz="114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E13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Analytical Techniques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1596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Quartile analysis for undervalued gem detection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Decile scoring for influence distribution study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Correlation analysis: influence vs engagement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Tier-based segmentation (Mega, Large, Mid)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E13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Lifetime Value per Influencer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2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likes per follower as value indicator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42114"/>
            <a:ext cx="7620000" cy="1168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Calculated total lifetime engagement potential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Estimated brand value at $0.01 per like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Identified highest ROI influencer profiles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E13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Saturation Risk Analysis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2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Posts per million followers metric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42114"/>
            <a:ext cx="7620000" cy="1168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Identified over-posting patterns and fatigue risk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Correlation with engagement rate decline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Optimal posting frequency recommendations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E13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Momentum Tier Classification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38200" y="1478282"/>
            <a:ext cx="7616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 (50%+)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38200" y="1706882"/>
            <a:ext cx="7616952" cy="202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Explosive growth trajectory</a:t>
            </a:r>
            <a:endParaRPr lang="en-US" sz="1140" dirty="0"/>
          </a:p>
        </p:txBody>
      </p:sp>
      <p:sp>
        <p:nvSpPr>
          <p:cNvPr id="5" name="Text 3"/>
          <p:cNvSpPr/>
          <p:nvPr/>
        </p:nvSpPr>
        <p:spPr>
          <a:xfrm>
            <a:off x="838200" y="2366804"/>
            <a:ext cx="7616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Rising (0-50%)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38200" y="2595404"/>
            <a:ext cx="7616952" cy="202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Steady upward trend</a:t>
            </a:r>
            <a:endParaRPr lang="en-US" sz="114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E13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Roadmap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1596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Filter by corrected influence score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Verify momentum tier classification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Assess geographic alignment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4: Calculate expected ROI and test campaign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82"/>
            <a:ext cx="7924800" cy="1143000"/>
          </a:xfrm>
          <a:prstGeom prst="rect">
            <a:avLst/>
          </a:prstGeom>
          <a:solidFill>
            <a:srgbClr val="262640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392682"/>
            <a:ext cx="7924800" cy="1143000"/>
          </a:xfrm>
          <a:prstGeom prst="rect">
            <a:avLst/>
          </a:prstGeom>
          <a:solidFill>
            <a:srgbClr val="262640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E13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and Technology Stack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38200" y="1478282"/>
            <a:ext cx="7616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E13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Analysis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38200" y="1950718"/>
            <a:ext cx="761695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MySQL, SQL Server, PostgreSQL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38200" y="2621282"/>
            <a:ext cx="7616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E13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Visualization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38200" y="3093718"/>
            <a:ext cx="761695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Tableau, Power BI, Excel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E13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Learnings from Analysis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1596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 beats follower count consistently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Momentum indicators predict future performance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Geographic targeting improves campaign relevance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Mid-tier influencers offer superior ROI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E13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Enhancements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1596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API integration for live data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Sentiment analysis on influencer content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 demographic profiling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modeling for engagement forecasting</a:t>
            </a:r>
            <a:endParaRPr lang="en-US" sz="13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319836" y="1727839"/>
            <a:ext cx="250417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080720" y="2505075"/>
            <a:ext cx="9825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3147061" y="3228975"/>
            <a:ext cx="2849718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SQL-Powered Influencer Marketing Intelligence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2026-03-11T12:37:41Z</dcterms:created>
  <dcterms:modified xsi:type="dcterms:W3CDTF">2026-03-11T12:37:41Z</dcterms:modified>
</cp:coreProperties>
</file>